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1E7C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AE-46F7-8C0D-E02908D1DC3D}"/>
              </c:ext>
            </c:extLst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AE-46F7-8C0D-E02908D1DC3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BAE-46F7-8C0D-E02908D1DC3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BAE-46F7-8C0D-E02908D1DC3D}"/>
              </c:ext>
            </c:extLst>
          </c:dPt>
          <c:dPt>
            <c:idx val="4"/>
            <c:invertIfNegative val="0"/>
            <c:bubble3D val="0"/>
            <c:spPr>
              <a:solidFill>
                <a:srgbClr val="123B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BAE-46F7-8C0D-E02908D1DC3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281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Kualitas
Informasi</c:v>
                </c:pt>
                <c:pt idx="1">
                  <c:v>Transparansi
Sistem</c:v>
                </c:pt>
                <c:pt idx="2">
                  <c:v>Kepercayaan
Pengguna</c:v>
                </c:pt>
                <c:pt idx="3">
                  <c:v>Usability</c:v>
                </c:pt>
                <c:pt idx="4">
                  <c:v>Grand
Mean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4.12</c:v>
                </c:pt>
                <c:pt idx="1">
                  <c:v>4.17</c:v>
                </c:pt>
                <c:pt idx="2">
                  <c:v>4.1100000000000003</c:v>
                </c:pt>
                <c:pt idx="3">
                  <c:v>4.12</c:v>
                </c:pt>
                <c:pt idx="4">
                  <c:v>4.13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AE-46F7-8C0D-E02908D1DC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8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D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Kategori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7C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89-4643-9620-65403F26E733}"/>
              </c:ext>
            </c:extLst>
          </c:dPt>
          <c:dPt>
            <c:idx val="1"/>
            <c:bubble3D val="0"/>
            <c:spPr>
              <a:solidFill>
                <a:srgbClr val="6FB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89-4643-9620-65403F26E733}"/>
              </c:ext>
            </c:extLst>
          </c:dPt>
          <c:dPt>
            <c:idx val="2"/>
            <c:bubble3D val="0"/>
            <c:spPr>
              <a:solidFill>
                <a:srgbClr val="B9C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89-4643-9620-65403F26E733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89-4643-9620-65403F26E733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89-4643-9620-65403F26E733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D89-4643-9620-65403F26E733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Sangat Tinggi</c:v>
                </c:pt>
                <c:pt idx="1">
                  <c:v>Tinggi</c:v>
                </c:pt>
                <c:pt idx="2">
                  <c:v>Cukup / di bawahnya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</c:v>
                </c:pt>
                <c:pt idx="1">
                  <c:v>53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D89-4643-9620-65403F26E7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7281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864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 Watermark" descr="InvestCow logo water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000" y="179000"/>
            <a:ext cx="6500000" cy="6500000"/>
          </a:xfrm>
          <a:prstGeom prst="rect">
            <a:avLst/>
          </a:prstGeom>
        </p:spPr>
      </p:pic>
      <p:sp>
        <p:nvSpPr>
          <p:cNvPr id="2" name="Title"/>
          <p:cNvSpPr txBox="1"/>
          <p:nvPr/>
        </p:nvSpPr>
        <p:spPr>
          <a:xfrm>
            <a:off x="0" y="950000"/>
            <a:ext cx="121920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InvestCow :</a:t>
            </a:r>
            <a:endParaRPr lang="en-US" sz="4600" dirty="0"/>
          </a:p>
        </p:txBody>
      </p:sp>
      <p:sp>
        <p:nvSpPr>
          <p:cNvPr id="3" name="Subtitle"/>
          <p:cNvSpPr txBox="1"/>
          <p:nvPr/>
        </p:nvSpPr>
        <p:spPr>
          <a:xfrm>
            <a:off x="822960" y="2100000"/>
            <a:ext cx="10546080" cy="8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Platform Crowdfunding Ternak Sapi Berbasis Mobile</a:t>
            </a:r>
            <a:endParaRPr lang="en-US" sz="2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Transparansi Data Real-Time dan Monitoring Visual</a:t>
            </a:r>
            <a:endParaRPr lang="en-US" sz="2000" dirty="0"/>
          </a:p>
        </p:txBody>
      </p:sp>
      <p:sp>
        <p:nvSpPr>
          <p:cNvPr id="4" name="Divider Line"/>
          <p:cNvSpPr/>
          <p:nvPr/>
        </p:nvSpPr>
        <p:spPr>
          <a:xfrm>
            <a:off x="660400" y="3690000"/>
            <a:ext cx="2374900" cy="254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Author Name"/>
          <p:cNvSpPr txBox="1"/>
          <p:nvPr/>
        </p:nvSpPr>
        <p:spPr>
          <a:xfrm>
            <a:off x="660400" y="3900000"/>
            <a:ext cx="65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Syaiful Anam ( 2022020100078)</a:t>
            </a:r>
            <a:endParaRPr lang="en-US" sz="2000" b="1" dirty="0"/>
          </a:p>
        </p:txBody>
      </p:sp>
      <p:sp>
        <p:nvSpPr>
          <p:cNvPr id="6" name="Affiliation"/>
          <p:cNvSpPr txBox="1"/>
          <p:nvPr/>
        </p:nvSpPr>
        <p:spPr>
          <a:xfrm>
            <a:off x="660400" y="4420000"/>
            <a:ext cx="8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Informatika, Universitas Islam Madura, Pamekasan, Indonesia</a:t>
            </a:r>
            <a:endParaRPr lang="en-US" sz="1500" dirty="0"/>
          </a:p>
        </p:txBody>
      </p:sp>
      <p:sp>
        <p:nvSpPr>
          <p:cNvPr id="7" name="Pembimbing"/>
          <p:cNvSpPr txBox="1"/>
          <p:nvPr/>
        </p:nvSpPr>
        <p:spPr>
          <a:xfrm>
            <a:off x="660400" y="5020000"/>
            <a:ext cx="650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E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Pembimbing I: Aang Kisnu Darmawan, S.T., M.M.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E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Pembimbing II: Anwari, S.Kom., M.T.</a:t>
            </a:r>
            <a:endParaRPr lang="en-US" sz="1500" dirty="0"/>
          </a:p>
        </p:txBody>
      </p:sp>
      <p:sp>
        <p:nvSpPr>
          <p:cNvPr id="8" name="Footer"/>
          <p:cNvSpPr txBox="1"/>
          <p:nvPr/>
        </p:nvSpPr>
        <p:spPr>
          <a:xfrm>
            <a:off x="4000000" y="6200000"/>
            <a:ext cx="74744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i="1" dirty="0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Nasional </a:t>
            </a:r>
            <a:r>
              <a:rPr lang="en-US" sz="1200" i="1" dirty="0" err="1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Humaniora</a:t>
            </a:r>
            <a:r>
              <a:rPr lang="en-US" sz="1200" i="1" dirty="0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200" i="1" dirty="0" err="1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</a:t>
            </a:r>
            <a:r>
              <a:rPr lang="en-US" sz="1200" i="1" dirty="0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r>
              <a:rPr lang="en-US" sz="1200" i="1" dirty="0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</a:t>
            </a:r>
            <a:r>
              <a:rPr lang="en-US" sz="1200" i="1" dirty="0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ISSN 2477-0078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LATAR BELAKANG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Ingin Mendanai Sapi,</a:t>
            </a:r>
            <a:endParaRPr lang="en-US" sz="27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tapi Tidak Bisa Melihatnya Langsung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5321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Pembiayaan agribisnis kini banyak bergerak lewat platform crowdfunding digital yang mempertemukan pemilik proyek ternak dengan investor secara online. Model ini memperluas akses pendanaan — tetapi sapi bukan aset di atas kertas. Kondisinya terus berubah setiap hari, di kandang yang jauh dari jangkauan investor.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12064" cy="512064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6" name="Image 0" descr="/home/claude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42834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4123944"/>
            <a:ext cx="4818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lewat aplikasi di ponsel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4434840"/>
            <a:ext cx="4818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Registrasi, transaksi, hingga pemantauan investasi dilakukan langsung dari genggaman.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5257800"/>
            <a:ext cx="512064" cy="512064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0" name="Image 1" descr="/home/claude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5380695"/>
            <a:ext cx="266273" cy="2662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1872" y="5221224"/>
            <a:ext cx="4818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 nilai asetnya terus bergerak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261872" y="5532120"/>
            <a:ext cx="4818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dokumen, kondisi ternak berubah dinamis dan sulit dipantau dari jauh.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0" y="2331720"/>
            <a:ext cx="5257800" cy="3794760"/>
          </a:xfrm>
          <a:prstGeom prst="roundRect">
            <a:avLst>
              <a:gd name="adj" fmla="val 2169"/>
            </a:avLst>
          </a:prstGeom>
          <a:solidFill>
            <a:srgbClr val="EAF3EF"/>
          </a:solidFill>
          <a:ln/>
          <a:effectLst>
            <a:outerShdw blurRad="127000" dist="38100" dir="5400000" algn="bl" rotWithShape="0">
              <a:srgbClr val="2B3B35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766560" y="2697480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2" descr="/home/claude/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285292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543800" y="27249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Utama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766560" y="3520440"/>
            <a:ext cx="4526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hanya menerima laporan dari pengelola platform, tanpa cara memverifikasi sendiri kondisi fisik ternak yang mereka danai.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Kesenjangan akses informasi inilah yang disebut asimetri informasi — dan menjadi titik tolak penelitian ini.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 •  SEHATI 2026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0634472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TUJUAN &amp; PENDEKATAN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Platform, Dua Bukti: Angka dan Gambar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9468" y="2286000"/>
            <a:ext cx="3246120" cy="3337560"/>
          </a:xfrm>
          <a:prstGeom prst="roundRect">
            <a:avLst>
              <a:gd name="adj" fmla="val 2535"/>
            </a:avLst>
          </a:prstGeom>
          <a:solidFill>
            <a:srgbClr val="EAF3EF"/>
          </a:solidFill>
          <a:ln/>
          <a:effectLst>
            <a:outerShdw blurRad="127000" dist="38100" dir="5400000" algn="bl" rotWithShape="0">
              <a:srgbClr val="2B3B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9508" y="2651760"/>
            <a:ext cx="685800" cy="68580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6" name="Image 0" descr="/home/clau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958" y="28232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9508" y="35204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Real-Time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89508" y="3950208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Engine memperbarui informasi nilai dan riwayat harga investasi secara langsung.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015588" y="36347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472788" y="2286000"/>
            <a:ext cx="3246120" cy="3337560"/>
          </a:xfrm>
          <a:prstGeom prst="roundRect">
            <a:avLst>
              <a:gd name="adj" fmla="val 2535"/>
            </a:avLst>
          </a:prstGeom>
          <a:solidFill>
            <a:srgbClr val="123B30"/>
          </a:solidFill>
          <a:ln/>
          <a:effectLst>
            <a:outerShdw blurRad="127000" dist="38100" dir="5400000" algn="bl" rotWithShape="0">
              <a:srgbClr val="2B3B3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2828" y="265176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/home/claude/icons/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278" y="282321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92828" y="35204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Bukti Visual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792828" y="3950208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F3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CCTV memberi akses pemantauan langsung ke kondisi fisik ternak.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718908" y="36347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176108" y="2286000"/>
            <a:ext cx="3246120" cy="3337560"/>
          </a:xfrm>
          <a:prstGeom prst="roundRect">
            <a:avLst>
              <a:gd name="adj" fmla="val 2535"/>
            </a:avLst>
          </a:prstGeom>
          <a:solidFill>
            <a:srgbClr val="EAF3EF"/>
          </a:solidFill>
          <a:ln/>
          <a:effectLst>
            <a:outerShdw blurRad="127000" dist="38100" dir="5400000" algn="bl" rotWithShape="0">
              <a:srgbClr val="2B3B35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96148" y="2651760"/>
            <a:ext cx="685800" cy="68580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8" name="Image 2" descr="/home/claude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598" y="282321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96148" y="35204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Riset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496148" y="3950208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Mengembangkan dan mengevaluasi InvestCow sebagai model transparansi berlapis bagi investor.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 •  SEHATI 2026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634472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METODE PENELITIAN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Dibangun Bertahap Lewat Delapan Putaran Kecil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 memakai pendekatan Research and Development (R&amp;D) yang dipadukan dengan siklus DevOps. Setiap perubahan — mulai dari rancangan hingga rilis — diuji dan divalidasi dalam siklus singkat sebelum lanjut ke tahap berikutnya.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EAF3EF"/>
          </a:solidFill>
          <a:ln/>
          <a:effectLst>
            <a:outerShdw blurRad="127000" dist="38100" dir="5400000" algn="bl" rotWithShape="0">
              <a:srgbClr val="2B3B35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3767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Code → Build → Test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9651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kebutuhan, membangun modul frontend &amp; backend, lalu menguji fungsi utamanya.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EAF3EF"/>
          </a:solidFill>
          <a:ln/>
          <a:effectLst>
            <a:outerShdw blurRad="127000" dist="38100" dir="5400000" algn="bl" rotWithShape="0">
              <a:srgbClr val="2B3B35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5138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→ Deploy → Operate → Monitor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6811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Merilis ke server produksi, menjalankan fitur, lalu memantau sebagai bahan perbaikan siklus berikutnya.</a:t>
            </a:r>
            <a:endParaRPr lang="en-US" sz="1200" dirty="0"/>
          </a:p>
        </p:txBody>
      </p:sp>
      <p:pic>
        <p:nvPicPr>
          <p:cNvPr id="11" name="Image 0" descr="/home/claude/img1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615" y="2331720"/>
            <a:ext cx="5806440" cy="28957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836615" y="5392107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tahap DevOps yang diterapkan dalam pengembangan InvestCow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 •  SEHATI 2026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634472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ARSITEKTUR &amp; TEKNOLOGI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Lapisan yang Bekerja di Balik Layar</a:t>
            </a:r>
            <a:endParaRPr lang="en-US" sz="2700" dirty="0"/>
          </a:p>
        </p:txBody>
      </p:sp>
      <p:pic>
        <p:nvPicPr>
          <p:cNvPr id="4" name="Image 0" descr="/home/claude/img2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4160520" cy="41856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32120" y="1874520"/>
            <a:ext cx="502920" cy="50292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6" name="Image 1" descr="/home/claude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821" y="1995221"/>
            <a:ext cx="261518" cy="26151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6208" y="1837944"/>
            <a:ext cx="5376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Material Design 3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6236208" y="2148840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aplikasi mobile yang dipakai investor sehari-hari.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532120" y="2770632"/>
            <a:ext cx="502920" cy="50292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0" name="Image 2" descr="/home/claude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821" y="2891333"/>
            <a:ext cx="261518" cy="26151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36208" y="2734056"/>
            <a:ext cx="5376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Socket.io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236208" y="3044952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logika bisnis dan pengiriman pembaruan harga secara real-time.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532120" y="3666744"/>
            <a:ext cx="502920" cy="50292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4" name="Image 3" descr="/home/claude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2821" y="3787445"/>
            <a:ext cx="261518" cy="26151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36208" y="3630168"/>
            <a:ext cx="5376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6236208" y="3941064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pengguna, transaksi, aset, dan riwayat harga.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532120" y="4562856"/>
            <a:ext cx="502920" cy="50292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8" name="Image 4" descr="/home/claude/icons/g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821" y="4683557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236208" y="4526280"/>
            <a:ext cx="5376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Actions</a:t>
            </a:r>
            <a:endParaRPr lang="en-US" sz="1450" dirty="0"/>
          </a:p>
        </p:txBody>
      </p:sp>
      <p:sp>
        <p:nvSpPr>
          <p:cNvPr id="20" name="Text 13"/>
          <p:cNvSpPr txBox="1"/>
          <p:nvPr/>
        </p:nvSpPr>
        <p:spPr>
          <a:xfrm>
            <a:off x="6236208" y="4837176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integrasi kode (CI/CD) setiap kali ada perubahan.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532120" y="5458968"/>
            <a:ext cx="502920" cy="50292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22" name="Image 5" descr="/home/claude/icons/vide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2821" y="5579669"/>
            <a:ext cx="261518" cy="26151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236208" y="5422392"/>
            <a:ext cx="5376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CCTV</a:t>
            </a:r>
            <a:endParaRPr lang="en-US" sz="1450" dirty="0"/>
          </a:p>
        </p:txBody>
      </p:sp>
      <p:sp>
        <p:nvSpPr>
          <p:cNvPr id="24" name="Text 16"/>
          <p:cNvSpPr txBox="1"/>
          <p:nvPr/>
        </p:nvSpPr>
        <p:spPr>
          <a:xfrm>
            <a:off x="6236208" y="5733288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Menjembatani kamera fisik di kandang dengan aplikasi mobile.</a:t>
            </a:r>
            <a:endParaRPr lang="en-US" sz="115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 •  SEHATI 2026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0634472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4C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KONTRIBUSI UTAMA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Transparansi Berlapis: Inti dari InvestCow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340100" y="1508760"/>
            <a:ext cx="7145735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2B3B35">
                <a:alpha val="18000"/>
              </a:srgbClr>
            </a:outerShdw>
          </a:effectLst>
        </p:spPr>
      </p:sp>
      <p:pic>
        <p:nvPicPr>
          <p:cNvPr id="5" name="Image 0" descr="/home/claude/img3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420" y="1783080"/>
            <a:ext cx="6597095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 •  SEHATI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634472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IMPLEMENTASI APLIKASI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Ini Bukan Konsep di Atas Kertas</a:t>
            </a:r>
            <a:endParaRPr lang="en-US" sz="2700" dirty="0"/>
          </a:p>
        </p:txBody>
      </p:sp>
      <p:pic>
        <p:nvPicPr>
          <p:cNvPr id="4" name="Image 0" descr="/home/claude/img7_tri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3089635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15515" y="2057400"/>
            <a:ext cx="548640" cy="54864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6" name="Image 1" descr="/home/claude/icons/we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189" y="218907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165323" y="2020824"/>
            <a:ext cx="6477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Weight Estimation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165323" y="2331720"/>
            <a:ext cx="64777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Memperkirakan bobot sapi dari data pertumbuhan harian, tanpa perlu menimbang manual yang membuat ternak stres.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415515" y="3429000"/>
            <a:ext cx="548640" cy="54864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0" name="Image 2" descr="/home/claude/icons/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7189" y="356067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65323" y="3392424"/>
            <a:ext cx="6477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Grade Classification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165323" y="3703320"/>
            <a:ext cx="64777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 ternak ke kelas A, B, atau C berdasarkan usia, ras, dan riwayat kesehatan.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415515" y="4800600"/>
            <a:ext cx="548640" cy="548640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4" name="Image 3" descr="/home/claude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7189" y="493227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165323" y="4764024"/>
            <a:ext cx="6477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165323" y="5074920"/>
            <a:ext cx="64777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notifikasi otomatis saat harga menyentuh batas tertentu atau transaksi berhasil diproses.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 •  SEHATI 2026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0634472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HASIL PENGUJIAN PENGGUNA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Respons 101 Pengguna terhadap InvestCow?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794760" cy="4160520"/>
          </a:xfrm>
          <a:prstGeom prst="roundRect">
            <a:avLst>
              <a:gd name="adj" fmla="val 2169"/>
            </a:avLst>
          </a:prstGeom>
          <a:solidFill>
            <a:srgbClr val="123B30"/>
          </a:solidFill>
          <a:ln/>
          <a:effectLst>
            <a:outerShdw blurRad="127000" dist="38100" dir="5400000" algn="bl" rotWithShape="0">
              <a:srgbClr val="2B3B3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5146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4CD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4,13 / 5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MEAN — KATEGORI TINGGI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4069080"/>
            <a:ext cx="2331720" cy="0"/>
          </a:xfrm>
          <a:prstGeom prst="line">
            <a:avLst/>
          </a:prstGeom>
          <a:noFill/>
          <a:ln w="12700">
            <a:solidFill>
              <a:srgbClr val="2E6B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519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A9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responden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A9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pernyataan • 4 variabel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A9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Likert 1–5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406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A9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Investor/calon investor 63,4%  •  Peternak 31,7%  •  Dinas peternakan 4,0%</a:t>
            </a:r>
            <a:endParaRPr lang="en-US" sz="10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709160" y="1965960"/>
          <a:ext cx="69037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 •  SEHATI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634472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TEMUAN KUNCI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7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 Responden Menilai Tinggi hingga Sangat Tinggi</a:t>
            </a:r>
            <a:endParaRPr lang="en-US" sz="24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874520"/>
          <a:ext cx="53949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874520"/>
            <a:ext cx="475488" cy="475488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6" name="Image 0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757" y="1988637"/>
            <a:ext cx="247254" cy="2472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40296" y="1837944"/>
            <a:ext cx="4809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tertinggi: akurasi &amp; keamanan data transaksi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940296" y="2148840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4,28 dari skala 5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263640" y="2807208"/>
            <a:ext cx="475488" cy="475488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0" name="Image 1" descr="/home/claude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757" y="2921325"/>
            <a:ext cx="247254" cy="24725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40296" y="2770632"/>
            <a:ext cx="4809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kondisi fisik lewat CCTV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940296" y="3081528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4,24 — salah satu skor tertinggi pada aspek transparansi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263640" y="3739896"/>
            <a:ext cx="475488" cy="475488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4" name="Image 2" descr="/home/claude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757" y="3854013"/>
            <a:ext cx="247254" cy="247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40296" y="3703320"/>
            <a:ext cx="4809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Keterbukaan mekanisme pembentukan harga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940296" y="4014216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4,23 — kategori sangat tinggi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63640" y="4672584"/>
            <a:ext cx="475488" cy="475488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8" name="Image 3" descr="/home/claude/icons/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757" y="4786701"/>
            <a:ext cx="247254" cy="24725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40296" y="4636008"/>
            <a:ext cx="4809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yang masih perlu diperbaiki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6940296" y="4946904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Kelengkapan laporan portofolio, skor 3,99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263640" y="5623560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EAF3EF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6492240" y="562356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7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integrasi kode (CI/CD): rata-rata 1–3 menit per siklus, dengan status build yang konsisten berhasil.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 •  SEHATI 2026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0634472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4C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KESIMPULAN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Transparansi Berlapis yang Diterima Baik oleh Pengguna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3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menyatukan dua saluran transparansi — Price Engine untuk informasi nilai dan CCTV untuk verifikasi visual — dalam satu platform mobile. Hasil UAT terhadap 101 pengguna menunjukkan penerimaan yang tinggi, dengan aspek Transparansi Sistem mendapat penilaian paling kuat.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4CD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Arah Pengembangan Selanjutnya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C2C23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4142232"/>
            <a:ext cx="530352" cy="530352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8" name="Image 0" descr="/home/claude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274820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480060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platform pada cakupan wilayah dan periode penggunaan yang lebih luas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38862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C2C23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4142232"/>
            <a:ext cx="530352" cy="530352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2" name="Image 1" descr="/home/claude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08" y="427482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480060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Perkaya kelengkapan laporan portofolio investor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74736" y="38862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C2C23"/>
          </a:solidFill>
          <a:ln/>
        </p:spPr>
      </p:sp>
      <p:sp>
        <p:nvSpPr>
          <p:cNvPr id="15" name="Shape 11"/>
          <p:cNvSpPr/>
          <p:nvPr/>
        </p:nvSpPr>
        <p:spPr>
          <a:xfrm>
            <a:off x="8430768" y="4142232"/>
            <a:ext cx="530352" cy="530352"/>
          </a:xfrm>
          <a:prstGeom prst="ellipse">
            <a:avLst/>
          </a:prstGeom>
          <a:solidFill>
            <a:srgbClr val="1E7C61"/>
          </a:solidFill>
          <a:ln/>
        </p:spPr>
      </p:sp>
      <p:pic>
        <p:nvPicPr>
          <p:cNvPr id="16" name="Image 2" descr="/home/claude/icons/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3356" y="427482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0768" y="480060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hubungan transparansi, kepercayaan, dan persepsi risiko secara inferensial atau longitudinal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InvestCow  •  SEHATI 2026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0634472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pic>
        <p:nvPicPr>
          <p:cNvPr id="22" name="Logo Watermark" descr="InvestCow logo watermark">
            <a:extLst>
              <a:ext uri="{FF2B5EF4-FFF2-40B4-BE49-F238E27FC236}">
                <a16:creationId xmlns:a16="http://schemas.microsoft.com/office/drawing/2014/main" id="{6BB643AF-C46E-5AB0-BBCA-8BC7EADF6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6294" y="683280"/>
            <a:ext cx="5400000" cy="5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805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anam 07</cp:lastModifiedBy>
  <cp:revision>3</cp:revision>
  <dcterms:created xsi:type="dcterms:W3CDTF">2026-09-05T14:09:23Z</dcterms:created>
  <dcterms:modified xsi:type="dcterms:W3CDTF">2026-09-08T03:20:25Z</dcterms:modified>
</cp:coreProperties>
</file>